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99" d="100"/>
          <a:sy n="99" d="100"/>
        </p:scale>
        <p:origin x="192" y="4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856509"/>
            <a:ext cx="5924550" cy="5000000"/>
          </a:xfrm>
          <a:prstGeom prst="rect">
            <a:avLst/>
          </a:prstGeom>
          <a:noFill/>
        </p:spPr>
        <p:txBody>
          <a:bodyPr wrap="square" lIns="72000" tIns="36000" rIns="72000" bIns="36000"/>
          <a:lstStyle/>
          <a:p>
            <a:pPr marL="285750" indent="-285750" algn="l">
              <a:lnSpc>
                <a:spcPct val="125000"/>
              </a:lnSpc>
              <a:buFont typeface="Arial"/>
              <a:buChar char="•"/>
            </a:pPr>
            <a:r>
              <a:rPr lang="en-US" sz="2400" b="1" dirty="0">
                <a:solidFill>
                  <a:srgbClr val="0F172A"/>
                </a:solidFill>
                <a:latin typeface="Arial"/>
              </a:rPr>
              <a:t>Problem Statement ID – </a:t>
            </a:r>
            <a:r>
              <a:rPr lang="en-US" sz="2400" b="1" dirty="0">
                <a:solidFill>
                  <a:srgbClr val="047857"/>
                </a:solidFill>
                <a:latin typeface="Arial"/>
              </a:rPr>
              <a:t>SIH018</a:t>
            </a:r>
          </a:p>
          <a:p>
            <a:pPr marL="285750" indent="-285750" algn="l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Problem Statement Title – </a:t>
            </a:r>
            <a:r>
              <a:rPr lang="en-US" sz="2000" b="0" dirty="0">
                <a:solidFill>
                  <a:srgbClr val="1E293B"/>
                </a:solidFill>
                <a:latin typeface="Arial"/>
              </a:rPr>
              <a:t>Smart Civic Issue Reporting Platform</a:t>
            </a:r>
          </a:p>
          <a:p>
            <a:pPr marL="285750" indent="-285750" algn="l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Project Name – </a:t>
            </a:r>
            <a:r>
              <a:rPr lang="en-US" sz="2000" b="1" dirty="0">
                <a:solidFill>
                  <a:srgbClr val="064E3B"/>
                </a:solidFill>
                <a:latin typeface="Arial"/>
              </a:rPr>
              <a:t>गंतव्य (Gantavya) – Closed-Loop AI Civic Intelligence Platform</a:t>
            </a:r>
          </a:p>
          <a:p>
            <a:pPr marL="285750" indent="-285750" algn="l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Theme – </a:t>
            </a:r>
            <a:r>
              <a:rPr lang="en-US" sz="2000" b="0" dirty="0" err="1">
                <a:solidFill>
                  <a:srgbClr val="1E293B"/>
                </a:solidFill>
                <a:latin typeface="Arial"/>
              </a:rPr>
              <a:t>CivicTech</a:t>
            </a:r>
            <a:r>
              <a:rPr lang="en-US" sz="2000" b="0" dirty="0">
                <a:solidFill>
                  <a:srgbClr val="1E293B"/>
                </a:solidFill>
                <a:latin typeface="Arial"/>
              </a:rPr>
              <a:t> &amp; AI Governance / Smart Cities</a:t>
            </a:r>
          </a:p>
          <a:p>
            <a:pPr marL="285750" indent="-285750" algn="l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PS Category – </a:t>
            </a:r>
            <a:r>
              <a:rPr lang="en-US" sz="2000" b="0" dirty="0">
                <a:solidFill>
                  <a:srgbClr val="1E293B"/>
                </a:solidFill>
                <a:latin typeface="Arial"/>
              </a:rPr>
              <a:t>Software</a:t>
            </a:r>
          </a:p>
          <a:p>
            <a:pPr marL="285750" indent="-285750" algn="l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Team ID –Team Name  – </a:t>
            </a:r>
            <a:r>
              <a:rPr lang="en-US" sz="2000" b="1" dirty="0">
                <a:solidFill>
                  <a:srgbClr val="047857"/>
                </a:solidFill>
                <a:latin typeface="Arial"/>
              </a:rPr>
              <a:t>Gantavya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72000" tIns="36000" rIns="72000" bIns="36000"/>
          <a:lstStyle/>
          <a:p>
            <a:pPr algn="ctr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064E3B"/>
                </a:solidFill>
                <a:latin typeface="Arial"/>
              </a:rPr>
              <a:t>IDEA TITLE: गंतव्य (GANTAVYA)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47536" y="1152659"/>
            <a:ext cx="11582400" cy="7015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18000" rIns="72000" bIns="18000"/>
          <a:lstStyle/>
          <a:p>
            <a:pPr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64E3B"/>
                </a:solidFill>
                <a:latin typeface="Arial"/>
              </a:rPr>
              <a:t>1. Proposed Solution &amp; Closed-Loop Architecture: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64E3B"/>
                </a:solidFill>
                <a:latin typeface="Arial"/>
              </a:rPr>
              <a:t>• 3-Sided Closed Loop: </a:t>
            </a:r>
            <a:r>
              <a:rPr lang="en-US" sz="1200" b="0" dirty="0">
                <a:solidFill>
                  <a:srgbClr val="1E293B"/>
                </a:solidFill>
                <a:latin typeface="Arial"/>
              </a:rPr>
              <a:t>Seamlessly synchronizes Citizens (PWA), Municipal Authorities (GIS Admin), and Field Workers into one real-time automated ecosystem.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64E3B"/>
                </a:solidFill>
                <a:latin typeface="Arial"/>
              </a:rPr>
              <a:t>• 1-Tap Photo Capture: </a:t>
            </a:r>
            <a:r>
              <a:rPr lang="en-US" sz="1200" b="0" dirty="0">
                <a:solidFill>
                  <a:srgbClr val="1E293B"/>
                </a:solidFill>
                <a:latin typeface="Arial"/>
              </a:rPr>
              <a:t>Camera pipeline automatically extracts tamper-proof EXIF GPS (Lat/</a:t>
            </a:r>
            <a:r>
              <a:rPr lang="en-US" sz="1200" b="0" dirty="0" err="1">
                <a:solidFill>
                  <a:srgbClr val="1E293B"/>
                </a:solidFill>
                <a:latin typeface="Arial"/>
              </a:rPr>
              <a:t>Lng</a:t>
            </a:r>
            <a:r>
              <a:rPr lang="en-US" sz="1200" b="0" dirty="0">
                <a:solidFill>
                  <a:srgbClr val="1E293B"/>
                </a:solidFill>
                <a:latin typeface="Arial"/>
              </a:rPr>
              <a:t>) &amp; timestamp, eliminating manual typing and inaccurate landmark reporting.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64E3B"/>
                </a:solidFill>
                <a:latin typeface="Arial"/>
              </a:rPr>
              <a:t>• Multimodal AI Triage: </a:t>
            </a:r>
            <a:r>
              <a:rPr lang="en-US" sz="1200" b="0" dirty="0">
                <a:solidFill>
                  <a:srgbClr val="1E293B"/>
                </a:solidFill>
                <a:latin typeface="Arial"/>
              </a:rPr>
              <a:t>Gemini Vision AI instantly classifies hazard category (pothole, garbage, water leak, streetlights) and severity grade (1–5) in under 1 second.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buNone/>
            </a:pPr>
            <a:r>
              <a:rPr lang="en-US" sz="1400" b="1" dirty="0">
                <a:solidFill>
                  <a:srgbClr val="1E3A8A"/>
                </a:solidFill>
                <a:latin typeface="Arial"/>
              </a:rPr>
              <a:t>2. How it Addresses Problem (SIH018 Scope):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3A8A"/>
                </a:solidFill>
                <a:latin typeface="Arial"/>
              </a:rPr>
              <a:t>• Automated Department Routing: </a:t>
            </a:r>
            <a:r>
              <a:rPr lang="en-US" sz="1200" b="0" dirty="0">
                <a:solidFill>
                  <a:srgbClr val="1E293B"/>
                </a:solidFill>
                <a:latin typeface="Arial"/>
              </a:rPr>
              <a:t>AI directly maps tickets to PWD, Jal Board, Sanitation, or Electricity Board based on visual category and municipal ward boundaries.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3A8A"/>
                </a:solidFill>
                <a:latin typeface="Arial"/>
              </a:rPr>
              <a:t>• Duplicate Elimination Engine: </a:t>
            </a:r>
            <a:r>
              <a:rPr lang="en-US" sz="1200" b="0" dirty="0">
                <a:solidFill>
                  <a:srgbClr val="1E293B"/>
                </a:solidFill>
                <a:latin typeface="Arial"/>
              </a:rPr>
              <a:t>DBSCAN spatial clustering (35m radius) combined with Image Cosine Similarity (&gt;0.85) merges 50 redundant reports into 1 single master work order.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3A8A"/>
                </a:solidFill>
                <a:latin typeface="Arial"/>
              </a:rPr>
              <a:t>• Predictive SLA &amp; Escalation: </a:t>
            </a:r>
            <a:r>
              <a:rPr lang="en-US" sz="1200" b="0" dirty="0">
                <a:solidFill>
                  <a:srgbClr val="1E293B"/>
                </a:solidFill>
                <a:latin typeface="Arial"/>
              </a:rPr>
              <a:t>Real-time countdown alarms automatically escalate unresolved tickets to Ward Executive Officers if unattended past the deadline.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buNone/>
            </a:pPr>
            <a:r>
              <a:rPr lang="en-US" sz="1400" b="1" dirty="0">
                <a:solidFill>
                  <a:srgbClr val="92400E"/>
                </a:solidFill>
                <a:latin typeface="Arial"/>
              </a:rPr>
              <a:t>3. Innovation &amp; Unique Value Propositions (USPs):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92400E"/>
                </a:solidFill>
                <a:latin typeface="Arial"/>
              </a:rPr>
              <a:t>• AI 'Before vs After' Closure Proof: </a:t>
            </a:r>
            <a:r>
              <a:rPr lang="en-US" sz="1200" b="0" dirty="0">
                <a:solidFill>
                  <a:srgbClr val="1E293B"/>
                </a:solidFill>
                <a:latin typeface="Arial"/>
              </a:rPr>
              <a:t>Field workers must submit an on-site completion photo; AI verifies physical repair before closing ticket to prevent fake resolution.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92400E"/>
                </a:solidFill>
                <a:latin typeface="Arial"/>
              </a:rPr>
              <a:t>• Civic Gamification &amp; Rewards: </a:t>
            </a:r>
            <a:r>
              <a:rPr lang="en-US" sz="1200" b="0" dirty="0">
                <a:solidFill>
                  <a:srgbClr val="1E293B"/>
                </a:solidFill>
                <a:latin typeface="Arial"/>
              </a:rPr>
              <a:t>Citizens earn Civic Coins, leaderboard badges, and utility bill discounts for verified reporting and neighbor upvoting.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92400E"/>
                </a:solidFill>
                <a:latin typeface="Arial"/>
              </a:rPr>
              <a:t>• Multilingual Voice Assistant: </a:t>
            </a:r>
            <a:r>
              <a:rPr lang="en-US" sz="1200" b="0" dirty="0">
                <a:solidFill>
                  <a:srgbClr val="1E293B"/>
                </a:solidFill>
                <a:latin typeface="Arial"/>
              </a:rPr>
              <a:t>Native Hindi &amp; regional voice-to-text reporting bridges the digital divide for non-tech savvy and rural citizens.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000" tIns="18000" rIns="18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064E3B"/>
                </a:solidFill>
                <a:latin typeface="Arial"/>
              </a:rPr>
              <a:t>Gantavya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7/decorative" xmlns:ns4="http://schemas.openxmlformats.org/officeDocument/2006/relationships" xmlns:ns5="http://schemas.microsoft.com/office/drawing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" name="Rectangle 9">
            <ns1:extLst>
              <ns1:ext uri="{FF2B5EF4-FFF2-40B4-BE49-F238E27FC236}">
                <ns2:creationId id="{AD4F69D3-EEB0-4C4C-9434-B9960FB5854C}"/>
              </ns1:ext>
            </ns1:extLst>
          </ns0:cNvPr>
          <ns0:cNvSpPr>
            <ns1:spLocks noChangeArrowheads="1"/>
          </ns0:cNvSpPr>
          <ns0:nvPr/>
        </ns0:nvSpPr>
        <ns0:spPr bwMode="auto">
          <ns1:xfrm>
            <ns1:off x="0" y="6354762"/>
            <ns1:ext cx="12191999" cy="503238"/>
          </ns1:xfrm>
          <ns1:prstGeom prst="rect">
            <ns1:avLst/>
          </ns1:prstGeom>
          <ns1:solidFill>
            <ns1:srgbClr val="0070C0"/>
          </ns1:solidFill>
          <ns1:ln w="9525">
            <ns1:noFill/>
            <ns1:miter lim="800000"/>
            <ns1:headEnd/>
            <ns1:tailEnd/>
          </ns1:ln>
          <ns1:effectLst>
            <ns1:outerShdw dist="23000" dir="5400000" rotWithShape="0">
              <ns1:srgbClr val="808080">
                <ns1:alpha val="34999"/>
              </ns1:srgbClr>
            </ns1:outerShdw>
          </ns1:effectLst>
        </ns0:spPr>
        <ns0:txBody>
          <ns1:bodyPr anchor="ctr"/>
          <ns1:lstStyle/>
          <ns1:p>
            <ns1:pPr algn="ctr" fontAlgn="auto">
              <ns1:spcBef>
                <ns1:spcPts val="0"/>
              </ns1:spcBef>
              <ns1:spcAft>
                <ns1:spcPts val="0"/>
              </ns1:spcAft>
              <ns1:defRPr/>
            </ns1:pPr>
            <ns1:endParaRPr lang="en-US" dirty="0">
              <ns1:solidFill>
                <ns1:schemeClr val="accent2">
                  <ns1:lumMod val="75000"/>
                </ns1:schemeClr>
              </ns1:solidFill>
              <ns1:latin typeface="+mn-lt"/>
              <ns1:ea typeface="+mn-ea"/>
            </ns1:endParaRPr>
          </ns1:p>
        </ns0:txBody>
      </ns0:sp>
      <ns0:sp>
        <ns0:nvSpPr>
          <ns0:cNvPr id="17409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pPr eaLnBrk="1" hangingPunct="1"/>
            <ns1:r>
              <ns1:rPr lang="en-US" sz="3600" b="1" dirty="0">
                <ns1:latin typeface="Times New Roman" panose="02020603050405020304" pitchFamily="18" charset="0"/>
                <ns1:ea typeface="ＭＳ Ｐゴシック" pitchFamily="1" charset="-128"/>
                <ns1:cs typeface="Times New Roman" panose="02020603050405020304" pitchFamily="18" charset="0"/>
              </ns1:rPr>
              <ns1:t>TECHNICAL APPROACH</ns1:t>
            </ns1:r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677C3CE7-23F7-4828-823C-E0205DF2CF97}" type="slidenum">
              <ns1:rPr lang="en-US" b="1">
                <ns1:solidFill>
                  <ns1:schemeClr val="bg1"/>
                </ns1:solidFill>
              </ns1:rPr>
              <ns1:pPr/>
              <ns1:t>3</ns1:t>
            </ns1:fld>
            <ns1:endParaRPr lang="en-US" b="1" dirty="0">
              <ns1:solidFill>
                <ns1:schemeClr val="bg1"/>
              </ns1:solidFill>
            </ns1:endParaRPr>
          </ns1:p>
        </ns0:txBody>
      </ns0:sp>
      <ns0:sp>
        <ns0:nvSpPr>
          <ns0:cNvPr id="7" name="Footer Placeholder 6"/>
          <ns0:cNvSpPr>
            <ns1:spLocks noGrp="1"/>
          </ns0:cNvSpPr>
          <ns0:nvPr>
            <ns0:ph type="ftr" sz="quarter" idx="11"/>
          </ns0:nvPr>
        </ns0:nvSpPr>
        <ns0:spPr>
          <ns1:xfrm>
            <ns1:off x="4648200" y="6356353"/>
            <ns1:ext cx="3204000" cy="365125"/>
          </ns1:xfrm>
        </ns0:spPr>
        <ns0:txBody>
          <ns1:bodyPr/>
          <ns1:lstStyle/>
          <ns1:p>
            <ns1:pPr>
              <ns1:defRPr/>
            </ns1:pPr>
            <ns1:r>
              <ns1:rPr lang="en-US">
                <ns1:solidFill>
                  <ns1:schemeClr val="bg1"/>
                </ns1:solidFill>
              </ns1:rPr>
              <ns1:t>@SIH Idea submission- Template</ns1:t>
            </ns1:r>
            <ns1:endParaRPr lang="en-US" dirty="0">
              <ns1:solidFill>
                <ns1:schemeClr val="bg1"/>
              </ns1:solidFill>
            </ns1:endParaRPr>
          </ns1:p>
        </ns0:txBody>
      </ns0:sp>
      <ns0:sp>
        <ns0:nvSpPr>
          <ns0:cNvPr id="11" name="Oval 10" descr="Your startup LOGO">
            <ns1:extLst>
              <ns1:ext uri="{FF2B5EF4-FFF2-40B4-BE49-F238E27FC236}">
                <ns2:creationId id="{5DBCE864-823D-4A13-9607-5DA1F0ED5FB8}"/>
              </ns1:ext>
              <ns1:ext uri="{C183D7F6-B498-43B3-948B-1728B52AA6E4}">
                <ns3:decorative val="0"/>
              </ns1:ext>
            </ns1:extLst>
          </ns0:cNvPr>
          <ns0:cNvSpPr/>
          <ns0:nvPr/>
        </ns0:nvSpPr>
        <ns0:spPr>
          <ns1:xfrm>
            <ns1:off x="329773" y="252246"/>
            <ns1:ext cx="1400000" cy="807334"/>
          </ns1:xfrm>
          <ns1:prstGeom prst="ellipse">
            <ns1:avLst/>
          </ns1:prstGeom>
        </ns0:spPr>
        <ns0:style>
          <ns1:lnRef idx="2">
            <ns1:schemeClr val="accent4"/>
          </ns1:lnRef>
          <ns1:fillRef idx="1">
            <ns1:schemeClr val="lt1"/>
          </ns1:fillRef>
          <ns1:effectRef idx="0">
            <ns1:schemeClr val="accent4"/>
          </ns1:effectRef>
          <ns1:fontRef idx="minor">
            <ns1:schemeClr val="dk1"/>
          </ns1:fontRef>
        </ns0:style>
        <ns0:txBody>
          <ns1:bodyPr wrap="none" lIns="18000" tIns="18000" rIns="18000" bIns="18000" anchor="ctr"/>
          <ns1:lstStyle/>
          <ns1:p>
            <ns1:pPr algn="ctr">
              <ns1:buNone/>
            </ns1:pPr>
            <ns1:r>
              <ns1:rPr lang="en-US" sz="1100" b="1">
                <ns1:solidFill>
                  <ns1:srgbClr val="064E3B"/>
                </ns1:solidFill>
                <ns1:latin typeface="Arial"/>
              </ns1:rPr>
              <ns1:t>Gantavya</ns1:t>
            </ns1:r>
          </ns1:p>
        </ns0:txBody>
      </ns0:sp>
      <ns0:pic>
        <ns0:nvPicPr>
          <ns0:cNvPr id="12" name="Picture 11"/>
          <ns0:cNvPicPr>
            <ns1:picLocks noChangeAspect="1"/>
          </ns0:cNvPicPr>
          <ns0:nvPr/>
        </ns0:nvPicPr>
        <ns0:blipFill>
          <ns1:blip ns4:embed="rId3">
            <ns1:extLst>
              <ns1:ext uri="{28A0092B-C50C-407E-A947-70E740481C1C}">
                <ns5:useLocalDpi val="0"/>
              </ns1:ext>
            </ns1:extLst>
          </ns1:blip>
          <ns1:stretch>
            <ns1:fillRect/>
          </ns1:stretch>
        </ns0:blipFill>
        <ns0:spPr>
          <ns1:xfrm>
            <ns1:off x="9780086" y="1500"/>
            <ns1:ext cx="2249850" cy="1062337"/>
          </ns1:xfrm>
          <ns1:prstGeom prst="rect">
            <ns1:avLst/>
          </ns1:prstGeom>
        </ns0:spPr>
      </ns0:pic>
      <ns0:sp>
        <ns0:nvSpPr>
          <ns0:cNvPr id="301" name="FlowCard_301"/>
          <ns0:cNvSpPr txBox="1"/>
          <ns0:nvPr/>
        </ns0:nvSpPr>
        <ns0:spPr>
          <ns1:xfrm>
            <ns1:off x="457200" y="1100000"/>
            <ns1:ext cx="11277600" cy="360000"/>
          </ns1:xfrm>
          <ns1:prstGeom prst="roundRect">
            <ns1:avLst>
              <ns1:gd name="adj" fmla="val 2000"/>
            </ns1:avLst>
          </ns1:prstGeom>
          <ns1:noFill/>
          <ns1:ln>
            <ns1:noFill/>
          </ns1:ln>
        </ns0:spPr>
        <ns0:txBody>
          <ns1:bodyPr wrap="square" lIns="0" tIns="0" rIns="0" bIns="0"/>
          <ns1:lstStyle/>
          <ns1:p>
            <ns1:pPr algn="l">
              <ns1:lnSpc>
                <ns1:spcPct val="115000"/>
              </ns1:lnSpc>
              <ns1:buNone/>
            </ns1:pPr>
            <ns1:r>
              <ns1:rPr lang="en-US" sz="1500" b="1">
                <ns1:solidFill>
                  <ns1:srgbClr val="064E3B"/>
                </ns1:solidFill>
                <ns1:latin typeface="Arial"/>
              </ns1:rPr>
              <ns1:t>1. Technologies to be Used (Complete System Tech Stack Architecture):</ns1:t>
            </ns1:r>
          </ns1:p>
        </ns0:txBody>
      </ns0:sp>
      <ns0:sp>
        <ns0:nvSpPr>
          <ns0:cNvPr id="302" name="FlowCard_302"/>
          <ns0:cNvSpPr txBox="1"/>
          <ns0:nvPr/>
        </ns0:nvSpPr>
        <ns0:spPr>
          <ns1:xfrm>
            <ns1:off x="457200" y="1500000"/>
            <ns1:ext cx="2670000" cy="1620000"/>
          </ns1:xfrm>
          <ns1:prstGeom prst="roundRect">
            <ns1:avLst>
              <ns1:gd name="adj" fmla="val 2000"/>
            </ns1:avLst>
          </ns1:prstGeom>
          <ns1:solidFill>
            <ns1:srgbClr val="EFF6FF"/>
          </ns1:solidFill>
          <ns1:ln w="22000">
            <ns1:solidFill>
              <ns1:srgbClr val="3B82F6"/>
            </ns1:solidFill>
          </ns1:ln>
        </ns0:spPr>
        <ns0:txBody>
          <ns1:bodyPr wrap="square" lIns="50000" tIns="40000" rIns="50000" bIns="40000"/>
          <ns1:lstStyle/>
          <ns1:p>
            <ns1:pPr algn="l">
              <ns1:lnSpc>
                <ns1:spcPct val="115000"/>
              </ns1:lnSpc>
              <ns1:buNone/>
            </ns1:pPr>
            <ns1:r>
              <ns1:rPr lang="en-US" sz="1300" b="1">
                <ns1:solidFill>
                  <ns1:srgbClr val="1E3A8A"/>
                </ns1:solidFill>
                <ns1:latin typeface="Arial"/>
              </ns1:rPr>
              <ns1:t>Frontend &amp; GIS UI 💻</ns1:t>
            </ns1:r>
          </ns1:p>
          <ns1:p>
            <ns1:pPr algn="l">
              <ns1:lnSpc>
                <ns1:spcPct val="115000"/>
              </ns1:lnSpc>
              <ns1:spcBef>
                <ns1:spcPts val="4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React 18 &amp; TypeScript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Tailwind CSS &amp; Lucide Icons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Leaflet &amp; Mapbox GIS UI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Responsive PWA Client</ns1:t>
            </ns1:r>
          </ns1:p>
        </ns0:txBody>
      </ns0:sp>
      <ns0:sp>
        <ns0:nvSpPr>
          <ns0:cNvPr id="303" name="FlowCard_303"/>
          <ns0:cNvSpPr txBox="1"/>
          <ns0:nvPr/>
        </ns0:nvSpPr>
        <ns0:spPr>
          <ns1:xfrm>
            <ns1:off x="3327200" y="1500000"/>
            <ns1:ext cx="2670000" cy="1620000"/>
          </ns1:xfrm>
          <ns1:prstGeom prst="roundRect">
            <ns1:avLst>
              <ns1:gd name="adj" fmla="val 2000"/>
            </ns1:avLst>
          </ns1:prstGeom>
          <ns1:solidFill>
            <ns1:srgbClr val="F0FDF4"/>
          </ns1:solidFill>
          <ns1:ln w="22000">
            <ns1:solidFill>
              <ns1:srgbClr val="10B981"/>
            </ns1:solidFill>
          </ns1:ln>
        </ns0:spPr>
        <ns0:txBody>
          <ns1:bodyPr wrap="square" lIns="50000" tIns="40000" rIns="50000" bIns="40000"/>
          <ns1:lstStyle/>
          <ns1:p>
            <ns1:pPr algn="l">
              <ns1:lnSpc>
                <ns1:spcPct val="115000"/>
              </ns1:lnSpc>
              <ns1:buNone/>
            </ns1:pPr>
            <ns1:r>
              <ns1:rPr lang="en-US" sz="1300" b="1">
                <ns1:solidFill>
                  <ns1:srgbClr val="065F46"/>
                </ns1:solidFill>
                <ns1:latin typeface="Arial"/>
              </ns1:rPr>
              <ns1:t>Backend &amp; Services ⚙️</ns1:t>
            </ns1:r>
          </ns1:p>
          <ns1:p>
            <ns1:pPr algn="l">
              <ns1:lnSpc>
                <ns1:spcPct val="115000"/>
              </ns1:lnSpc>
              <ns1:spcBef>
                <ns1:spcPts val="4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FastAPI (Python 3.11+)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SQLAlchemy &amp; Postgres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WebSockets Real-Time Sync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Sub-50ms API Response</ns1:t>
            </ns1:r>
          </ns1:p>
        </ns0:txBody>
      </ns0:sp>
      <ns0:sp>
        <ns0:nvSpPr>
          <ns0:cNvPr id="304" name="FlowCard_304"/>
          <ns0:cNvSpPr txBox="1"/>
          <ns0:nvPr/>
        </ns0:nvSpPr>
        <ns0:spPr>
          <ns1:xfrm>
            <ns1:off x="6197200" y="1500000"/>
            <ns1:ext cx="2670000" cy="1620000"/>
          </ns1:xfrm>
          <ns1:prstGeom prst="roundRect">
            <ns1:avLst>
              <ns1:gd name="adj" fmla="val 2000"/>
            </ns1:avLst>
          </ns1:prstGeom>
          <ns1:solidFill>
            <ns1:srgbClr val="FAF5FF"/>
          </ns1:solidFill>
          <ns1:ln w="22000">
            <ns1:solidFill>
              <ns1:srgbClr val="A855F7"/>
            </ns1:solidFill>
          </ns1:ln>
        </ns0:spPr>
        <ns0:txBody>
          <ns1:bodyPr wrap="square" lIns="50000" tIns="40000" rIns="50000" bIns="40000"/>
          <ns1:lstStyle/>
          <ns1:p>
            <ns1:pPr algn="l">
              <ns1:lnSpc>
                <ns1:spcPct val="115000"/>
              </ns1:lnSpc>
              <ns1:buNone/>
            </ns1:pPr>
            <ns1:r>
              <ns1:rPr lang="en-US" sz="1300" b="1">
                <ns1:solidFill>
                  <ns1:srgbClr val="6B21A8"/>
                </ns1:solidFill>
                <ns1:latin typeface="Arial"/>
              </ns1:rPr>
              <ns1:t>AI &amp; Spatial Engine 🧠</ns1:t>
            </ns1:r>
          </ns1:p>
          <ns1:p>
            <ns1:pPr algn="l">
              <ns1:lnSpc>
                <ns1:spcPct val="115000"/>
              </ns1:lnSpc>
              <ns1:spcBef>
                <ns1:spcPts val="4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Gemini 1.5 Flash Vision AI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DBSCAN Spatial Cluster (35m)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Image Cosine Embeddings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Severity Scoring (Grade 1-5)</ns1:t>
            </ns1:r>
          </ns1:p>
        </ns0:txBody>
      </ns0:sp>
      <ns0:sp>
        <ns0:nvSpPr>
          <ns0:cNvPr id="305" name="FlowCard_305"/>
          <ns0:cNvSpPr txBox="1"/>
          <ns0:nvPr/>
        </ns0:nvSpPr>
        <ns0:spPr>
          <ns1:xfrm>
            <ns1:off x="9067200" y="1500000"/>
            <ns1:ext cx="2670000" cy="1620000"/>
          </ns1:xfrm>
          <ns1:prstGeom prst="roundRect">
            <ns1:avLst>
              <ns1:gd name="adj" fmla="val 2000"/>
            </ns1:avLst>
          </ns1:prstGeom>
          <ns1:solidFill>
            <ns1:srgbClr val="FFF7ED"/>
          </ns1:solidFill>
          <ns1:ln w="22000">
            <ns1:solidFill>
              <ns1:srgbClr val="F97316"/>
            </ns1:solidFill>
          </ns1:ln>
        </ns0:spPr>
        <ns0:txBody>
          <ns1:bodyPr wrap="square" lIns="50000" tIns="40000" rIns="50000" bIns="40000"/>
          <ns1:lstStyle/>
          <ns1:p>
            <ns1:pPr algn="l">
              <ns1:lnSpc>
                <ns1:spcPct val="115000"/>
              </ns1:lnSpc>
              <ns1:buNone/>
            </ns1:pPr>
            <ns1:r>
              <ns1:rPr lang="en-US" sz="1300" b="1">
                <ns1:solidFill>
                  <ns1:srgbClr val="9A3412"/>
                </ns1:solidFill>
                <ns1:latin typeface="Arial"/>
              </ns1:rPr>
              <ns1:t>Database &amp; Offline 🗄️</ns1:t>
            </ns1:r>
          </ns1:p>
          <ns1:p>
            <ns1:pPr algn="l">
              <ns1:lnSpc>
                <ns1:spcPct val="115000"/>
              </ns1:lnSpc>
              <ns1:spcBef>
                <ns1:spcPts val="4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PostgreSQL + PostGIS Spatial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Ward Geofencing Layers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IndexedDB PWA Worker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100% Offline Field Support</ns1:t>
            </ns1:r>
          </ns1:p>
        </ns0:txBody>
      </ns0:sp>
      <ns0:sp>
        <ns0:nvSpPr>
          <ns0:cNvPr id="306" name="FlowCard_306"/>
          <ns0:cNvSpPr txBox="1"/>
          <ns0:nvPr/>
        </ns0:nvSpPr>
        <ns0:spPr>
          <ns1:xfrm>
            <ns1:off x="457200" y="3280000"/>
            <ns1:ext cx="11277600" cy="360000"/>
          </ns1:xfrm>
          <ns1:prstGeom prst="roundRect">
            <ns1:avLst>
              <ns1:gd name="adj" fmla="val 2000"/>
            </ns1:avLst>
          </ns1:prstGeom>
          <ns1:noFill/>
          <ns1:ln>
            <ns1:noFill/>
          </ns1:ln>
        </ns0:spPr>
        <ns0:txBody>
          <ns1:bodyPr wrap="square" lIns="0" tIns="0" rIns="0" bIns="0"/>
          <ns1:lstStyle/>
          <ns1:p>
            <ns1:pPr algn="l">
              <ns1:lnSpc>
                <ns1:spcPct val="115000"/>
              </ns1:lnSpc>
              <ns1:buNone/>
            </ns1:pPr>
            <ns1:r>
              <ns1:rPr lang="en-US" sz="1500" b="1">
                <ns1:solidFill>
                  <ns1:srgbClr val="0F172A"/>
                </ns1:solidFill>
                <ns1:latin typeface="Arial"/>
              </ns1:rPr>
              <ns1:t>2. Methodology &amp; Implementation Process (End-to-End Workflow Pipeline):</ns1:t>
            </ns1:r>
          </ns1:p>
        </ns0:txBody>
      </ns0:sp>
      <ns0:sp>
        <ns0:nvSpPr>
          <ns0:cNvPr id="307" name="FlowCard_307"/>
          <ns0:cNvSpPr txBox="1"/>
          <ns0:nvPr/>
        </ns0:nvSpPr>
        <ns0:spPr>
          <ns1:xfrm>
            <ns1:off x="457200" y="3700000"/>
            <ns1:ext cx="2420000" cy="2350000"/>
          </ns1:xfrm>
          <ns1:prstGeom prst="roundRect">
            <ns1:avLst>
              <ns1:gd name="adj" fmla="val 2000"/>
            </ns1:avLst>
          </ns1:prstGeom>
          <ns1:solidFill>
            <ns1:srgbClr val="F0FDF4"/>
          </ns1:solidFill>
          <ns1:ln w="22000">
            <ns1:solidFill>
              <ns1:srgbClr val="10B981"/>
            </ns1:solidFill>
          </ns1:ln>
        </ns0:spPr>
        <ns0:txBody>
          <ns1:bodyPr wrap="square" lIns="50000" tIns="40000" rIns="50000" bIns="40000"/>
          <ns1:lstStyle/>
          <ns1:p>
            <ns1:pPr algn="l">
              <ns1:lnSpc>
                <ns1:spcPct val="115000"/>
              </ns1:lnSpc>
              <ns1:buNone/>
            </ns1:pPr>
            <ns1:r>
              <ns1:rPr lang="en-US" sz="1300" b="1">
                <ns1:solidFill>
                  <ns1:srgbClr val="064E3B"/>
                </ns1:solidFill>
                <ns1:latin typeface="Arial"/>
              </ns1:rPr>
              <ns1:t>Step 1: Citizen Capture 📱</ns1:t>
            </ns1:r>
          </ns1:p>
          <ns1:p>
            <ns1:pPr algn="l">
              <ns1:lnSpc>
                <ns1:spcPct val="115000"/>
              </ns1:lnSpc>
              <ns1:spcBef>
                <ns1:spcPts val="4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1-Tap Camera Photo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Auto EXIF GPS extraction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Native Hindi voice-to-text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Zero manual address typing</ns1:t>
            </ns1:r>
          </ns1:p>
        </ns0:txBody>
      </ns0:sp>
      <ns0:sp>
        <ns0:nvSpPr>
          <ns0:cNvPr id="308" name="Arrow_308"/>
          <ns0:cNvSpPr/>
          <ns0:nvPr/>
        </ns0:nvSpPr>
        <ns0:spPr>
          <ns1:xfrm>
            <ns1:off x="2912200" y="4755000"/>
            <ns1:ext cx="380000" cy="240000"/>
          </ns1:xfrm>
          <ns1:prstGeom prst="rightArrow">
            <ns1:avLst>
              <ns1:gd name="adj1" fmla="val 50000"/>
              <ns1:gd name="adj2" fmla="val 50000"/>
            </ns1:avLst>
          </ns1:prstGeom>
          <ns1:solidFill>
            <ns1:srgbClr val="10B981"/>
          </ns1:solidFill>
          <ns1:ln>
            <ns1:noFill/>
          </ns1:ln>
        </ns0:spPr>
      </ns0:sp>
      <ns0:sp>
        <ns0:nvSpPr>
          <ns0:cNvPr id="309" name="FlowCard_309"/>
          <ns0:cNvSpPr txBox="1"/>
          <ns0:nvPr/>
        </ns0:nvSpPr>
        <ns0:spPr>
          <ns1:xfrm>
            <ns1:off x="3357200" y="3700000"/>
            <ns1:ext cx="2420000" cy="2350000"/>
          </ns1:xfrm>
          <ns1:prstGeom prst="roundRect">
            <ns1:avLst>
              <ns1:gd name="adj" fmla="val 2000"/>
            </ns1:avLst>
          </ns1:prstGeom>
          <ns1:solidFill>
            <ns1:srgbClr val="FAF5FF"/>
          </ns1:solidFill>
          <ns1:ln w="22000">
            <ns1:solidFill>
              <ns1:srgbClr val="A855F7"/>
            </ns1:solidFill>
          </ns1:ln>
        </ns0:spPr>
        <ns0:txBody>
          <ns1:bodyPr wrap="square" lIns="50000" tIns="40000" rIns="50000" bIns="40000"/>
          <ns1:lstStyle/>
          <ns1:p>
            <ns1:pPr algn="l">
              <ns1:lnSpc>
                <ns1:spcPct val="115000"/>
              </ns1:lnSpc>
              <ns1:buNone/>
            </ns1:pPr>
            <ns1:r>
              <ns1:rPr lang="en-US" sz="1300" b="1">
                <ns1:solidFill>
                  <ns1:srgbClr val="6B21A8"/>
                </ns1:solidFill>
                <ns1:latin typeface="Arial"/>
              </ns1:rPr>
              <ns1:t>Step 2: AI Auto-Triage 🧠</ns1:t>
            </ns1:r>
          </ns1:p>
          <ns1:p>
            <ns1:pPr algn="l">
              <ns1:lnSpc>
                <ns1:spcPct val="115000"/>
              </ns1:lnSpc>
              <ns1:spcBef>
                <ns1:spcPts val="4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Gemini Vision classification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Severity score (Grade 1–5)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DBSCAN 35m spatial cluster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Merges 50 duplicates into 1</ns1:t>
            </ns1:r>
          </ns1:p>
        </ns0:txBody>
      </ns0:sp>
      <ns0:sp>
        <ns0:nvSpPr>
          <ns0:cNvPr id="310" name="Arrow_310"/>
          <ns0:cNvSpPr/>
          <ns0:nvPr/>
        </ns0:nvSpPr>
        <ns0:spPr>
          <ns1:xfrm>
            <ns1:off x="5812200" y="4755000"/>
            <ns1:ext cx="380000" cy="240000"/>
          </ns1:xfrm>
          <ns1:prstGeom prst="rightArrow">
            <ns1:avLst>
              <ns1:gd name="adj1" fmla="val 50000"/>
              <ns1:gd name="adj2" fmla="val 50000"/>
            </ns1:avLst>
          </ns1:prstGeom>
          <ns1:solidFill>
            <ns1:srgbClr val="A855F7"/>
          </ns1:solidFill>
          <ns1:ln>
            <ns1:noFill/>
          </ns1:ln>
        </ns0:spPr>
      </ns0:sp>
      <ns0:sp>
        <ns0:nvSpPr>
          <ns0:cNvPr id="311" name="FlowCard_311"/>
          <ns0:cNvSpPr txBox="1"/>
          <ns0:nvPr/>
        </ns0:nvSpPr>
        <ns0:spPr>
          <ns1:xfrm>
            <ns1:off x="6257200" y="3700000"/>
            <ns1:ext cx="2420000" cy="2350000"/>
          </ns1:xfrm>
          <ns1:prstGeom prst="roundRect">
            <ns1:avLst>
              <ns1:gd name="adj" fmla="val 2000"/>
            </ns1:avLst>
          </ns1:prstGeom>
          <ns1:solidFill>
            <ns1:srgbClr val="EFF6FF"/>
          </ns1:solidFill>
          <ns1:ln w="22000">
            <ns1:solidFill>
              <ns1:srgbClr val="3B82F6"/>
            </ns1:solidFill>
          </ns1:ln>
        </ns0:spPr>
        <ns0:txBody>
          <ns1:bodyPr wrap="square" lIns="50000" tIns="40000" rIns="50000" bIns="40000"/>
          <ns1:lstStyle/>
          <ns1:p>
            <ns1:pPr algn="l">
              <ns1:lnSpc>
                <ns1:spcPct val="115000"/>
              </ns1:lnSpc>
              <ns1:buNone/>
            </ns1:pPr>
            <ns1:r>
              <ns1:rPr lang="en-US" sz="1300" b="1">
                <ns1:solidFill>
                  <ns1:srgbClr val="1E3A8A"/>
                </ns1:solidFill>
                <ns1:latin typeface="Arial"/>
              </ns1:rPr>
              <ns1:t>Step 3: Route Dispatch 🚛</ns1:t>
            </ns1:r>
          </ns1:p>
          <ns1:p>
            <ns1:pPr algn="l">
              <ns1:lnSpc>
                <ns1:spcPct val="115000"/>
              </ns1:lnSpc>
              <ns1:spcBef>
                <ns1:spcPts val="4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Auto-routed to PWD/Sanitation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Turn-by-turn mobile GPS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Predictive SLA countdowns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60% fuel &amp; time savings</ns1:t>
            </ns1:r>
          </ns1:p>
        </ns0:txBody>
      </ns0:sp>
      <ns0:sp>
        <ns0:nvSpPr>
          <ns0:cNvPr id="312" name="Arrow_312"/>
          <ns0:cNvSpPr/>
          <ns0:nvPr/>
        </ns0:nvSpPr>
        <ns0:spPr>
          <ns1:xfrm>
            <ns1:off x="8712200" y="4755000"/>
            <ns1:ext cx="380000" cy="240000"/>
          </ns1:xfrm>
          <ns1:prstGeom prst="rightArrow">
            <ns1:avLst>
              <ns1:gd name="adj1" fmla="val 50000"/>
              <ns1:gd name="adj2" fmla="val 50000"/>
            </ns1:avLst>
          </ns1:prstGeom>
          <ns1:solidFill>
            <ns1:srgbClr val="3B82F6"/>
          </ns1:solidFill>
          <ns1:ln>
            <ns1:noFill/>
          </ns1:ln>
        </ns0:spPr>
      </ns0:sp>
      <ns0:sp>
        <ns0:nvSpPr>
          <ns0:cNvPr id="313" name="FlowCard_313"/>
          <ns0:cNvSpPr txBox="1"/>
          <ns0:nvPr/>
        </ns0:nvSpPr>
        <ns0:spPr>
          <ns1:xfrm>
            <ns1:off x="9157200" y="3700000"/>
            <ns1:ext cx="2540000" cy="2350000"/>
          </ns1:xfrm>
          <ns1:prstGeom prst="roundRect">
            <ns1:avLst>
              <ns1:gd name="adj" fmla="val 2000"/>
            </ns1:avLst>
          </ns1:prstGeom>
          <ns1:solidFill>
            <ns1:srgbClr val="ECFDF5"/>
          </ns1:solidFill>
          <ns1:ln w="22000">
            <ns1:solidFill>
              <ns1:srgbClr val="059669"/>
            </ns1:solidFill>
          </ns1:ln>
        </ns0:spPr>
        <ns0:txBody>
          <ns1:bodyPr wrap="square" lIns="50000" tIns="40000" rIns="50000" bIns="40000"/>
          <ns1:lstStyle/>
          <ns1:p>
            <ns1:pPr algn="l">
              <ns1:lnSpc>
                <ns1:spcPct val="115000"/>
              </ns1:lnSpc>
              <ns1:buNone/>
            </ns1:pPr>
            <ns1:r>
              <ns1:rPr lang="en-US" sz="1300" b="1">
                <ns1:solidFill>
                  <ns1:srgbClr val="065F46"/>
                </ns1:solidFill>
                <ns1:latin typeface="Arial"/>
              </ns1:rPr>
              <ns1:t>Step 4: AI Resolution Proof 🪙</ns1:t>
            </ns1:r>
          </ns1:p>
          <ns1:p>
            <ns1:pPr algn="l">
              <ns1:lnSpc>
                <ns1:spcPct val="115000"/>
              </ns1:lnSpc>
              <ns1:spcBef>
                <ns1:spcPts val="4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Worker submits 'After' photo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AI verifies physical repair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Ticket closes with proof</ns1:t>
            </ns1:r>
          </ns1:p>
          <ns1:p>
            <ns1:pPr algn="l">
              <ns1:lnSpc>
                <ns1:spcPct val="115000"/>
              </ns1:lnSpc>
              <ns1:spcBef>
                <ns1:spcPts val="200"/>
              </ns1:spcBef>
              <ns1:buNone/>
            </ns1:pPr>
            <ns1:r>
              <ns1:rPr lang="en-US" sz="1100" b="0">
                <ns1:solidFill>
                  <ns1:srgbClr val="1E293B"/>
                </ns1:solidFill>
                <ns1:latin typeface="Arial"/>
              </ns1:rPr>
              <ns1:t>• Citizen receives Civic Coins</ns1:t>
            </ns1:r>
          </ns1:p>
        </ns0:txBody>
      </ns0:sp>
    </ns0:spTree>
  </ns0:cSld>
  <ns0:clrMapOvr>
    <ns1:masterClrMapping/>
  </ns0:clrMapOvr>
</ns0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150000"/>
            <a:ext cx="11277600" cy="50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18000" rIns="72000" bIns="18000"/>
          <a:lstStyle/>
          <a:p>
            <a:pPr algn="l">
              <a:lnSpc>
                <a:spcPct val="125000"/>
              </a:lnSpc>
              <a:buNone/>
            </a:pPr>
            <a:r>
              <a:rPr lang="en-US" sz="1600" b="1">
                <a:solidFill>
                  <a:srgbClr val="064E3B"/>
                </a:solidFill>
                <a:latin typeface="Arial"/>
              </a:rPr>
              <a:t>1. Analysis of the Feasibility of the Idea: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064E3B"/>
                </a:solidFill>
                <a:latin typeface="Arial"/>
              </a:rPr>
              <a:t>• Technical Feasibility: </a:t>
            </a:r>
            <a:r>
              <a:rPr lang="en-US" sz="1350" b="0">
                <a:solidFill>
                  <a:srgbClr val="1E293B"/>
                </a:solidFill>
                <a:latin typeface="Arial"/>
              </a:rPr>
              <a:t>Lightweight asynchronous FastAPI architecture tested with sub-50ms query latency; working prototype already built and live.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064E3B"/>
                </a:solidFill>
                <a:latin typeface="Arial"/>
              </a:rPr>
              <a:t>• Operational Feasibility: </a:t>
            </a:r>
            <a:r>
              <a:rPr lang="en-US" sz="1350" b="0">
                <a:solidFill>
                  <a:srgbClr val="1E293B"/>
                </a:solidFill>
                <a:latin typeface="Arial"/>
              </a:rPr>
              <a:t>Standard REST APIs integrate directly into existing municipal Smart City ICCC dashboards without server replacement.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064E3B"/>
                </a:solidFill>
                <a:latin typeface="Arial"/>
              </a:rPr>
              <a:t>• Financial Feasibility: </a:t>
            </a:r>
            <a:r>
              <a:rPr lang="en-US" sz="1350" b="0">
                <a:solidFill>
                  <a:srgbClr val="1E293B"/>
                </a:solidFill>
                <a:latin typeface="Arial"/>
              </a:rPr>
              <a:t>100% open-source core stack; cloud operational costs average &lt; ₹0.02 per processed complaint.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buNone/>
            </a:pPr>
            <a:r>
              <a:rPr lang="en-US" sz="1600" b="1">
                <a:solidFill>
                  <a:srgbClr val="991B1B"/>
                </a:solidFill>
                <a:latin typeface="Arial"/>
              </a:rPr>
              <a:t>2. Potential Challenges and Risks: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991B1B"/>
                </a:solidFill>
                <a:latin typeface="Arial"/>
              </a:rPr>
              <a:t>• Risk 1 (Spam / Fake Photos): </a:t>
            </a:r>
            <a:r>
              <a:rPr lang="en-US" sz="1350" b="0">
                <a:solidFill>
                  <a:srgbClr val="1E293B"/>
                </a:solidFill>
                <a:latin typeface="Arial"/>
              </a:rPr>
              <a:t>Malicious users submitting fake images downloaded from the web or non-civic photos.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991B1B"/>
                </a:solidFill>
                <a:latin typeface="Arial"/>
              </a:rPr>
              <a:t>• Risk 2 (Offline Field Zones): </a:t>
            </a:r>
            <a:r>
              <a:rPr lang="en-US" sz="1350" b="0">
                <a:solidFill>
                  <a:srgbClr val="1E293B"/>
                </a:solidFill>
                <a:latin typeface="Arial"/>
              </a:rPr>
              <a:t>Field workers operating in basements or remote wards with zero cellular network connectivity.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991B1B"/>
                </a:solidFill>
                <a:latin typeface="Arial"/>
              </a:rPr>
              <a:t>• Risk 3 (User Engagement Drop-off): </a:t>
            </a:r>
            <a:r>
              <a:rPr lang="en-US" sz="1350" b="0">
                <a:solidFill>
                  <a:srgbClr val="1E293B"/>
                </a:solidFill>
                <a:latin typeface="Arial"/>
              </a:rPr>
              <a:t>Citizens abandoning reporting due to lack of progress visibility or civic motivation.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buNone/>
            </a:pPr>
            <a:r>
              <a:rPr lang="en-US" sz="1600" b="1">
                <a:solidFill>
                  <a:srgbClr val="047857"/>
                </a:solidFill>
                <a:latin typeface="Arial"/>
              </a:rPr>
              <a:t>3. Strategies for Overcoming Challenges: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047857"/>
                </a:solidFill>
                <a:latin typeface="Arial"/>
              </a:rPr>
              <a:t>• Mitigation 1 (Anti-Fraud Lock): </a:t>
            </a:r>
            <a:r>
              <a:rPr lang="en-US" sz="1350" b="0">
                <a:solidFill>
                  <a:srgbClr val="1E293B"/>
                </a:solidFill>
                <a:latin typeface="Arial"/>
              </a:rPr>
              <a:t>Live camera-only capture enforcement with EXIF telemetry checks and Vision AI authenticity validation.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047857"/>
                </a:solidFill>
                <a:latin typeface="Arial"/>
              </a:rPr>
              <a:t>• Mitigation 2 (Offline-First PWA Sync): </a:t>
            </a:r>
            <a:r>
              <a:rPr lang="en-US" sz="1350" b="0">
                <a:solidFill>
                  <a:srgbClr val="1E293B"/>
                </a:solidFill>
                <a:latin typeface="Arial"/>
              </a:rPr>
              <a:t>IndexedDB caches assigned tasks &amp; photos locally; auto-reconciles with cloud upon reconnection.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047857"/>
                </a:solidFill>
                <a:latin typeface="Arial"/>
              </a:rPr>
              <a:t>• Mitigation 3 (Gamification &amp; Utility Perks): </a:t>
            </a:r>
            <a:r>
              <a:rPr lang="en-US" sz="1350" b="0">
                <a:solidFill>
                  <a:srgbClr val="1E293B"/>
                </a:solidFill>
                <a:latin typeface="Arial"/>
              </a:rPr>
              <a:t>Civic Coins, leaderboard badges, and neighbor verification upvoting keep citizens actively engaged.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000" tIns="18000" rIns="18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064E3B"/>
                </a:solidFill>
                <a:latin typeface="Arial"/>
              </a:rPr>
              <a:t>Gantavya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150000"/>
            <a:ext cx="11277600" cy="50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18000" rIns="72000" bIns="18000"/>
          <a:lstStyle/>
          <a:p>
            <a:pPr algn="l">
              <a:lnSpc>
                <a:spcPct val="125000"/>
              </a:lnSpc>
              <a:buNone/>
            </a:pPr>
            <a:r>
              <a:rPr lang="en-US" sz="1600" b="1">
                <a:solidFill>
                  <a:srgbClr val="0F172A"/>
                </a:solidFill>
                <a:latin typeface="Arial"/>
              </a:rPr>
              <a:t>1. Potential Impact on Target Audience: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064E3B"/>
                </a:solidFill>
                <a:latin typeface="Arial"/>
              </a:rPr>
              <a:t>• For Citizens: </a:t>
            </a:r>
            <a:r>
              <a:rPr lang="en-US" sz="1350" b="0">
                <a:solidFill>
                  <a:srgbClr val="1E293B"/>
                </a:solidFill>
                <a:latin typeface="Arial"/>
              </a:rPr>
              <a:t>Transparent grievance resolution in &lt;24-48 hours with visual proof, live tracking, and rewarded civic participation.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1E3A8A"/>
                </a:solidFill>
                <a:latin typeface="Arial"/>
              </a:rPr>
              <a:t>• For Municipal Authorities: </a:t>
            </a:r>
            <a:r>
              <a:rPr lang="en-US" sz="1350" b="0">
                <a:solidFill>
                  <a:srgbClr val="1E293B"/>
                </a:solidFill>
                <a:latin typeface="Arial"/>
              </a:rPr>
              <a:t>100% automated complaint triage, zero manual sorting overhead, and predictive ward-level resource allocation.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92400E"/>
                </a:solidFill>
                <a:latin typeface="Arial"/>
              </a:rPr>
              <a:t>• For Field Workforce: </a:t>
            </a:r>
            <a:r>
              <a:rPr lang="en-US" sz="1350" b="0">
                <a:solidFill>
                  <a:srgbClr val="1E293B"/>
                </a:solidFill>
                <a:latin typeface="Arial"/>
              </a:rPr>
              <a:t>Turn-by-turn route navigation to priority spots, eliminating redundant zigzag travel and manual paper logs.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buNone/>
            </a:pPr>
            <a:r>
              <a:rPr lang="en-US" sz="1600" b="1">
                <a:solidFill>
                  <a:srgbClr val="0F172A"/>
                </a:solidFill>
                <a:latin typeface="Arial"/>
              </a:rPr>
              <a:t>2. Measurable Socio-Economic &amp; Environmental Benefits: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064E3B"/>
                </a:solidFill>
                <a:latin typeface="Arial"/>
              </a:rPr>
              <a:t>• Social Benefits: </a:t>
            </a:r>
            <a:r>
              <a:rPr lang="en-US" sz="1350" b="0">
                <a:solidFill>
                  <a:srgbClr val="1E293B"/>
                </a:solidFill>
                <a:latin typeface="Arial"/>
              </a:rPr>
              <a:t>Restores citizen trust with Before/After photo proof. Community confirmation empowers neighbors to verify fixes. Eradicates open health hazards from garbage dumps &amp; sewage leaks.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1E3A8A"/>
                </a:solidFill>
                <a:latin typeface="Arial"/>
              </a:rPr>
              <a:t>• Economic Benefits: </a:t>
            </a:r>
            <a:r>
              <a:rPr lang="en-US" sz="1350" b="0">
                <a:solidFill>
                  <a:srgbClr val="1E293B"/>
                </a:solidFill>
                <a:latin typeface="Arial"/>
              </a:rPr>
              <a:t>60% Fuel &amp; Dispatch Cost Savings via duplicate merging. Faster road repair minimizes vehicle damage &amp; compensation claims. 40% increase in daily workforce output.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059669"/>
                </a:solidFill>
                <a:latin typeface="Arial"/>
              </a:rPr>
              <a:t>• Environmental Benefits: </a:t>
            </a:r>
            <a:r>
              <a:rPr lang="en-US" sz="1350" b="0">
                <a:solidFill>
                  <a:srgbClr val="1E293B"/>
                </a:solidFill>
                <a:latin typeface="Arial"/>
              </a:rPr>
              <a:t>Rapid containment of plastic dumping, garbage burning &amp; water leaks. Lowers municipal vehicle emissions via optimized route dispatch. Directly accelerates Swachh Bharat 2.0 goals.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000" tIns="18000" rIns="18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064E3B"/>
                </a:solidFill>
                <a:latin typeface="Arial"/>
              </a:rPr>
              <a:t>Gantavya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150000"/>
            <a:ext cx="11277600" cy="50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18000" rIns="72000" bIns="18000"/>
          <a:lstStyle/>
          <a:p>
            <a:pPr algn="l">
              <a:lnSpc>
                <a:spcPct val="125000"/>
              </a:lnSpc>
              <a:buNone/>
            </a:pPr>
            <a:r>
              <a:rPr lang="en-US" sz="1600" b="1">
                <a:solidFill>
                  <a:srgbClr val="064E3B"/>
                </a:solidFill>
                <a:latin typeface="Arial"/>
              </a:rPr>
              <a:t>1. Government Frameworks &amp; Standards: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064E3B"/>
                </a:solidFill>
                <a:latin typeface="Arial"/>
              </a:rPr>
              <a:t>• Smart Cities Mission (MoHUA): </a:t>
            </a:r>
            <a:r>
              <a:rPr lang="en-US" sz="1300" b="0">
                <a:solidFill>
                  <a:srgbClr val="1E293B"/>
                </a:solidFill>
                <a:latin typeface="Arial"/>
              </a:rPr>
              <a:t>Standards for Integrated Command and Control Centre (ICCC) data interoperability &amp; GIS layer management protocols. (https://smartcities.gov.in)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064E3B"/>
                </a:solidFill>
                <a:latin typeface="Arial"/>
              </a:rPr>
              <a:t>• Swachh Bharat Mission-Urban 2.0 (SBM-U 2.0): </a:t>
            </a:r>
            <a:r>
              <a:rPr lang="en-US" sz="1300" b="0">
                <a:solidFill>
                  <a:srgbClr val="1E293B"/>
                </a:solidFill>
                <a:latin typeface="Arial"/>
              </a:rPr>
              <a:t>Municipal Solid Waste (MSW) grievance response time indicators and citizen satisfaction benchmarks. (https://sbmurban.org)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064E3B"/>
                </a:solidFill>
                <a:latin typeface="Arial"/>
              </a:rPr>
              <a:t>• National Open Digital Ecosystem (NODE): </a:t>
            </a:r>
            <a:r>
              <a:rPr lang="en-US" sz="1300" b="0">
                <a:solidFill>
                  <a:srgbClr val="1E293B"/>
                </a:solidFill>
                <a:latin typeface="Arial"/>
              </a:rPr>
              <a:t>Architectural guidelines for Citizen-Centric Municipal Public Digital Infrastructure. (https://csei.org/node)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buNone/>
            </a:pPr>
            <a:r>
              <a:rPr lang="en-US" sz="1600" b="1">
                <a:solidFill>
                  <a:srgbClr val="1E3A8A"/>
                </a:solidFill>
                <a:latin typeface="Arial"/>
              </a:rPr>
              <a:t>2. Academic Literature &amp; Technical Citations: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1E3A8A"/>
                </a:solidFill>
                <a:latin typeface="Arial"/>
              </a:rPr>
              <a:t>• Geospatial Density Clustering: </a:t>
            </a:r>
            <a:r>
              <a:rPr lang="en-US" sz="1300" b="0">
                <a:solidFill>
                  <a:srgbClr val="1E293B"/>
                </a:solidFill>
                <a:latin typeface="Arial"/>
              </a:rPr>
              <a:t>Ester, M. et al., 'A density-based algorithm for discovering clusters in large spatial databases with noise (DBSCAN)', KDD Conference on Knowledge Discovery and Data Mining.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1E3A8A"/>
                </a:solidFill>
                <a:latin typeface="Arial"/>
              </a:rPr>
              <a:t>• Computer Vision in Smart Governance: </a:t>
            </a:r>
            <a:r>
              <a:rPr lang="en-US" sz="1300" b="0">
                <a:solidFill>
                  <a:srgbClr val="1E293B"/>
                </a:solidFill>
                <a:latin typeface="Arial"/>
              </a:rPr>
              <a:t>IEEE Transactions on Intelligent Transportation Systems: 'Deep Multimodal Vision Pipelines for Automated Road Hazard &amp; Pothole Detection.'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400" b="1">
                <a:solidFill>
                  <a:srgbClr val="1E3A8A"/>
                </a:solidFill>
                <a:latin typeface="Arial"/>
              </a:rPr>
              <a:t>• High-Throughput Spatial Indexing: </a:t>
            </a:r>
            <a:r>
              <a:rPr lang="en-US" sz="1300" b="0">
                <a:solidFill>
                  <a:srgbClr val="1E293B"/>
                </a:solidFill>
                <a:latin typeface="Arial"/>
              </a:rPr>
              <a:t>Open Geospatial Consortium (OGC) specifications for Web Feature Services (WFS) &amp; PostGIS geometry indexing.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000" tIns="18000" rIns="18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064E3B"/>
                </a:solidFill>
                <a:latin typeface="Arial"/>
              </a:rPr>
              <a:t>Gantavya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7491</TotalTime>
  <Words>1203</Words>
  <Application>Microsoft Macintosh PowerPoint</Application>
  <PresentationFormat>Widescreen</PresentationFormat>
  <Paragraphs>84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IDEA TITLE: गंतव्य (GANTAVYA)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avi yadav</cp:lastModifiedBy>
  <cp:revision>149</cp:revision>
  <dcterms:created xsi:type="dcterms:W3CDTF">2013-12-12T18:46:50Z</dcterms:created>
  <dcterms:modified xsi:type="dcterms:W3CDTF">2026-08-28T19:39:42Z</dcterms:modified>
  <cp:category/>
</cp:coreProperties>
</file>