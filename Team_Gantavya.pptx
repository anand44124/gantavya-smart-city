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8"/>
    <p:restoredTop sz="94749"/>
  </p:normalViewPr>
  <p:slideViewPr>
    <p:cSldViewPr snapToGrid="0" snapToObjects="1">
      <p:cViewPr varScale="1">
        <p:scale>
          <a:sx n="89" d="100"/>
          <a:sy n="89" d="100"/>
        </p:scale>
        <p:origin x="176" y="6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856509"/>
            <a:ext cx="5924550" cy="5000000"/>
          </a:xfrm>
          <a:prstGeom prst="rect">
            <a:avLst/>
          </a:prstGeom>
          <a:noFill/>
        </p:spPr>
        <p:txBody>
          <a:bodyPr wrap="square" lIns="72000" tIns="36000" rIns="72000" bIns="36000"/>
          <a:lstStyle/>
          <a:p>
            <a:pPr marL="285750" indent="-285750" algn="l">
              <a:lnSpc>
                <a:spcPct val="125000"/>
              </a:lnSpc>
              <a:buFont typeface="Arial"/>
              <a:buChar char="•"/>
            </a:pPr>
            <a:r>
              <a:rPr lang="en-US" sz="2400" b="1" dirty="0">
                <a:solidFill>
                  <a:srgbClr val="0F172A"/>
                </a:solidFill>
                <a:latin typeface="Arial"/>
              </a:rPr>
              <a:t>Problem Statement ID – </a:t>
            </a:r>
            <a:r>
              <a:rPr lang="en-US" sz="2400" b="1" dirty="0">
                <a:solidFill>
                  <a:srgbClr val="047857"/>
                </a:solidFill>
                <a:latin typeface="Arial"/>
              </a:rPr>
              <a:t>SIH018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Problem Statement Title – </a:t>
            </a:r>
            <a:r>
              <a:rPr lang="en-US" sz="2000" b="0" dirty="0">
                <a:solidFill>
                  <a:srgbClr val="1E293B"/>
                </a:solidFill>
                <a:latin typeface="Arial"/>
              </a:rPr>
              <a:t>Smart Civic Issue Reporting Platform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Project Name – </a:t>
            </a:r>
            <a:r>
              <a:rPr lang="en-US" sz="2000" b="1" dirty="0">
                <a:solidFill>
                  <a:srgbClr val="064E3B"/>
                </a:solidFill>
                <a:latin typeface="Arial"/>
              </a:rPr>
              <a:t>गंतव्य (Gantavya) Closed-Loop AI Civic Intelligence Platform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Theme – </a:t>
            </a:r>
            <a:r>
              <a:rPr lang="en-US" sz="2000" b="0" dirty="0">
                <a:solidFill>
                  <a:srgbClr val="1E293B"/>
                </a:solidFill>
                <a:latin typeface="Arial"/>
              </a:rPr>
              <a:t>CivicTech &amp; AI Governance / Smart Cities</a:t>
            </a: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PS Category – </a:t>
            </a:r>
            <a:r>
              <a:rPr lang="en-US" sz="2000" b="0" dirty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 marL="285750" indent="-285750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Team ID – </a:t>
            </a:r>
            <a:r>
              <a:rPr lang="en-US" sz="2000" b="1" dirty="0">
                <a:solidFill>
                  <a:srgbClr val="047857"/>
                </a:solidFill>
                <a:latin typeface="Arial"/>
              </a:rPr>
              <a:t>IH03</a:t>
            </a:r>
            <a:endParaRPr lang="en-US" sz="2000" b="0" dirty="0">
              <a:solidFill>
                <a:srgbClr val="1E293B"/>
              </a:solidFill>
              <a:latin typeface="Arial"/>
            </a:endParaRPr>
          </a:p>
          <a:p>
            <a:pPr marL="285750" indent="-285750" algn="l">
              <a:lnSpc>
                <a:spcPct val="125000"/>
              </a:lnSpc>
              <a:spcBef>
                <a:spcPts val="1200"/>
              </a:spcBef>
              <a:buFont typeface="Arial"/>
              <a:buChar char="•"/>
            </a:pPr>
            <a:r>
              <a:rPr lang="en-US" sz="2000" b="1" dirty="0">
                <a:solidFill>
                  <a:srgbClr val="0F172A"/>
                </a:solidFill>
                <a:latin typeface="Arial"/>
              </a:rPr>
              <a:t>Team Name  – </a:t>
            </a:r>
            <a:r>
              <a:rPr lang="en-US" sz="2000" b="1" dirty="0">
                <a:solidFill>
                  <a:srgbClr val="047857"/>
                </a:solidFill>
                <a:latin typeface="Arial"/>
              </a:rPr>
              <a:t>Gantavya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72000" tIns="36000" rIns="72000" bIns="36000"/>
          <a:lstStyle/>
          <a:p>
            <a:pPr algn="ctr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064E3B"/>
                </a:solidFill>
                <a:latin typeface="Arial"/>
              </a:rPr>
              <a:t>IDEA TITLE: गंतव्य (GANTAVYA)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02920" y="1051560"/>
            <a:ext cx="5806440" cy="5633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1. Proposed Solution &amp; Architecture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🌐 3-Sided Closed Loop: </a:t>
            </a:r>
            <a:r>
              <a:rPr sz="1050" dirty="0">
                <a:solidFill>
                  <a:srgbClr val="334155"/>
                </a:solidFill>
                <a:latin typeface="Arial"/>
              </a:rPr>
              <a:t>Citizens (Mobile App), Municipal Admins (GIS Map) &amp; Field Workers in 1 real-time loop.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📸 1-Tap Auto-GPS: </a:t>
            </a:r>
            <a:r>
              <a:rPr sz="1050" dirty="0">
                <a:solidFill>
                  <a:srgbClr val="334155"/>
                </a:solidFill>
                <a:latin typeface="Arial"/>
              </a:rPr>
              <a:t>Camera auto-captures exact GPS Lat/</a:t>
            </a:r>
            <a:r>
              <a:rPr sz="1050" dirty="0" err="1">
                <a:solidFill>
                  <a:srgbClr val="334155"/>
                </a:solidFill>
                <a:latin typeface="Arial"/>
              </a:rPr>
              <a:t>Lng</a:t>
            </a:r>
            <a:r>
              <a:rPr sz="1050" dirty="0">
                <a:solidFill>
                  <a:srgbClr val="334155"/>
                </a:solidFill>
                <a:latin typeface="Arial"/>
              </a:rPr>
              <a:t> &amp; timestamp — zero manual typing.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🧠 Gemini 3.6 Vision AI: </a:t>
            </a:r>
            <a:r>
              <a:rPr sz="1050" dirty="0">
                <a:solidFill>
                  <a:srgbClr val="334155"/>
                </a:solidFill>
                <a:latin typeface="Arial"/>
              </a:rPr>
              <a:t>Instantly classifies hazard type &amp; urgency grade in &lt;1 second.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🚛 Auto-Dept Routing: </a:t>
            </a:r>
            <a:r>
              <a:rPr sz="1050" dirty="0">
                <a:solidFill>
                  <a:srgbClr val="334155"/>
                </a:solidFill>
                <a:latin typeface="Arial"/>
              </a:rPr>
              <a:t>Directly routes tickets to PWD, Jal Board, Sanitation, or Electricity.</a:t>
            </a:r>
          </a:p>
          <a:p>
            <a:pPr>
              <a:lnSpc>
                <a:spcPct val="150000"/>
              </a:lnSpc>
              <a:spcBef>
                <a:spcPts val="800"/>
              </a:spcBef>
              <a:spcAft>
                <a:spcPts val="6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2. Key Innovations &amp; Value Propositions (USPs)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🎯 Duplicate Merging (DBSCAN 35m): </a:t>
            </a:r>
            <a:r>
              <a:rPr sz="1050" dirty="0">
                <a:solidFill>
                  <a:srgbClr val="334155"/>
                </a:solidFill>
                <a:latin typeface="Arial"/>
              </a:rPr>
              <a:t>Combines 50 repeated reports for same spot into 1 master work order.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⏱️ Predictive SLA Escalation: </a:t>
            </a:r>
            <a:r>
              <a:rPr sz="1050" dirty="0">
                <a:solidFill>
                  <a:srgbClr val="334155"/>
                </a:solidFill>
                <a:latin typeface="Arial"/>
              </a:rPr>
              <a:t>Countdown alarms auto-escalate delayed tickets to senior officers.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🔍 AI 'Before vs After' Proof: </a:t>
            </a:r>
            <a:r>
              <a:rPr sz="1050" dirty="0">
                <a:solidFill>
                  <a:srgbClr val="334155"/>
                </a:solidFill>
                <a:latin typeface="Arial"/>
              </a:rPr>
              <a:t>AI verifies physical repair photo before closing ticket to stop fake fixes.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🎟️ Delhi Metro QR Rewards: </a:t>
            </a:r>
            <a:r>
              <a:rPr sz="1050" dirty="0">
                <a:solidFill>
                  <a:srgbClr val="334155"/>
                </a:solidFill>
                <a:latin typeface="Arial"/>
              </a:rPr>
              <a:t>Citizens earn points to redeem real Metro &amp; Bus transit passes.</a:t>
            </a:r>
          </a:p>
          <a:p>
            <a:pPr>
              <a:lnSpc>
                <a:spcPct val="150000"/>
              </a:lnSpc>
              <a:spcAft>
                <a:spcPts val="550"/>
              </a:spcAft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🎙️ Multilingual Voice Assistant: </a:t>
            </a:r>
            <a:r>
              <a:rPr sz="1050" dirty="0">
                <a:solidFill>
                  <a:srgbClr val="334155"/>
                </a:solidFill>
                <a:latin typeface="Arial"/>
              </a:rPr>
              <a:t>Native Hindi &amp; English voice reporting for non-tech savvy citizens.</a:t>
            </a:r>
          </a:p>
        </p:txBody>
      </p:sp>
      <p:pic>
        <p:nvPicPr>
          <p:cNvPr id="15364" name="Picture 15363" descr="mobile_citizen_loggedin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301" y="1654529"/>
            <a:ext cx="2463578" cy="4871163"/>
          </a:xfrm>
          <a:prstGeom prst="rect">
            <a:avLst/>
          </a:prstGeom>
        </p:spPr>
      </p:pic>
      <p:pic>
        <p:nvPicPr>
          <p:cNvPr id="15365" name="Picture 15364" descr="slide2_ai_camera_tri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507" y="1707544"/>
            <a:ext cx="2463579" cy="48711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732EAC-F0ED-467A-07F1-01E8330096B4}"/>
              </a:ext>
            </a:extLst>
          </p:cNvPr>
          <p:cNvSpPr txBox="1"/>
          <p:nvPr/>
        </p:nvSpPr>
        <p:spPr>
          <a:xfrm>
            <a:off x="6762753" y="1338212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D9488"/>
                </a:solidFill>
                <a:latin typeface="Arial"/>
              </a:rPr>
              <a:t>Login Interface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61DB1-6752-6370-B0DB-7D26A7244D3E}"/>
              </a:ext>
            </a:extLst>
          </p:cNvPr>
          <p:cNvSpPr txBox="1"/>
          <p:nvPr/>
        </p:nvSpPr>
        <p:spPr>
          <a:xfrm>
            <a:off x="9289771" y="1324702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D9488"/>
                </a:solidFill>
                <a:latin typeface="Arial"/>
              </a:rPr>
              <a:t>Citizen Home screen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01" name="FlowCard_301"/>
          <p:cNvSpPr txBox="1"/>
          <p:nvPr/>
        </p:nvSpPr>
        <p:spPr>
          <a:xfrm>
            <a:off x="457200" y="1100000"/>
            <a:ext cx="11277600" cy="360000"/>
          </a:xfrm>
          <a:prstGeom prst="roundRect">
            <a:avLst>
              <a:gd name="adj" fmla="val 2000"/>
            </a:avLst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>
              <a:lnSpc>
                <a:spcPct val="115000"/>
              </a:lnSpc>
              <a:buNone/>
            </a:pPr>
            <a:r>
              <a:rPr lang="en-US" sz="1500" b="1">
                <a:solidFill>
                  <a:srgbClr val="064E3B"/>
                </a:solidFill>
                <a:latin typeface="Arial"/>
              </a:rPr>
              <a:t>1. Technologies to be Used (Complete System Tech Stack Architecture):</a:t>
            </a:r>
          </a:p>
        </p:txBody>
      </p:sp>
      <p:sp>
        <p:nvSpPr>
          <p:cNvPr id="302" name="FlowCard_302"/>
          <p:cNvSpPr txBox="1"/>
          <p:nvPr/>
        </p:nvSpPr>
        <p:spPr>
          <a:xfrm>
            <a:off x="457200" y="1500000"/>
            <a:ext cx="2670000" cy="16200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22000">
            <a:solidFill>
              <a:srgbClr val="3B82F6"/>
            </a:solidFill>
          </a:ln>
        </p:spPr>
        <p:txBody>
          <a:bodyPr wrap="square" lIns="50000" tIns="40000" rIns="50000" bIns="40000"/>
          <a:lstStyle/>
          <a:p>
            <a:pPr algn="l">
              <a:lnSpc>
                <a:spcPct val="115000"/>
              </a:lnSpc>
              <a:buNone/>
            </a:pPr>
            <a:r>
              <a:rPr lang="en-US" sz="1300" b="1">
                <a:solidFill>
                  <a:srgbClr val="1E3A8A"/>
                </a:solidFill>
                <a:latin typeface="Arial"/>
              </a:rPr>
              <a:t>Frontend &amp; GIS UI 💻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React 18 &amp; TypeScript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Tailwind CSS &amp; Lucide Icons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Leaflet &amp; Mapbox GIS UI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Responsive PWA Client</a:t>
            </a:r>
          </a:p>
        </p:txBody>
      </p:sp>
      <p:sp>
        <p:nvSpPr>
          <p:cNvPr id="303" name="FlowCard_303"/>
          <p:cNvSpPr txBox="1"/>
          <p:nvPr/>
        </p:nvSpPr>
        <p:spPr>
          <a:xfrm>
            <a:off x="3327200" y="1500000"/>
            <a:ext cx="2670000" cy="162000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22000">
            <a:solidFill>
              <a:srgbClr val="10B981"/>
            </a:solidFill>
          </a:ln>
        </p:spPr>
        <p:txBody>
          <a:bodyPr wrap="square" lIns="50000" tIns="40000" rIns="50000" bIns="40000"/>
          <a:lstStyle/>
          <a:p>
            <a:pPr algn="l">
              <a:lnSpc>
                <a:spcPct val="115000"/>
              </a:lnSpc>
              <a:buNone/>
            </a:pPr>
            <a:r>
              <a:rPr lang="en-US" sz="1300" b="1">
                <a:solidFill>
                  <a:srgbClr val="065F46"/>
                </a:solidFill>
                <a:latin typeface="Arial"/>
              </a:rPr>
              <a:t>Backend &amp; Services ⚙️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FastAPI (Python 3.11+)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SQLAlchemy &amp; Postgres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WebSockets Real-Time Sync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Sub-50ms API Response</a:t>
            </a:r>
          </a:p>
        </p:txBody>
      </p:sp>
      <p:sp>
        <p:nvSpPr>
          <p:cNvPr id="304" name="FlowCard_304"/>
          <p:cNvSpPr txBox="1"/>
          <p:nvPr/>
        </p:nvSpPr>
        <p:spPr>
          <a:xfrm>
            <a:off x="6197200" y="1500000"/>
            <a:ext cx="2670000" cy="1620000"/>
          </a:xfrm>
          <a:prstGeom prst="roundRect">
            <a:avLst>
              <a:gd name="adj" fmla="val 2000"/>
            </a:avLst>
          </a:prstGeom>
          <a:solidFill>
            <a:srgbClr val="FAF5FF"/>
          </a:solidFill>
          <a:ln w="22000">
            <a:solidFill>
              <a:srgbClr val="A855F7"/>
            </a:solidFill>
          </a:ln>
        </p:spPr>
        <p:txBody>
          <a:bodyPr wrap="square" lIns="50000" tIns="40000" rIns="50000" bIns="40000"/>
          <a:lstStyle/>
          <a:p>
            <a:pPr algn="l">
              <a:lnSpc>
                <a:spcPct val="115000"/>
              </a:lnSpc>
              <a:spcAft>
                <a:spcPts val="400"/>
              </a:spcAft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AI &amp; Spatial Engine 🧠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Gemini 3.6 Vision AI 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DBSCAN Spatial Cluster (35m) 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Image Cosine Similarity 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F172A"/>
                </a:solidFill>
                <a:latin typeface="Arial"/>
              </a:rPr>
              <a:t>• Urgency Scoring (1-10) </a:t>
            </a:r>
          </a:p>
        </p:txBody>
      </p:sp>
      <p:sp>
        <p:nvSpPr>
          <p:cNvPr id="305" name="FlowCard_305"/>
          <p:cNvSpPr txBox="1"/>
          <p:nvPr/>
        </p:nvSpPr>
        <p:spPr>
          <a:xfrm>
            <a:off x="9067200" y="1500000"/>
            <a:ext cx="2670000" cy="1620000"/>
          </a:xfrm>
          <a:prstGeom prst="roundRect">
            <a:avLst>
              <a:gd name="adj" fmla="val 2000"/>
            </a:avLst>
          </a:prstGeom>
          <a:solidFill>
            <a:srgbClr val="FFF7ED"/>
          </a:solidFill>
          <a:ln w="22000">
            <a:solidFill>
              <a:srgbClr val="F97316"/>
            </a:solidFill>
          </a:ln>
        </p:spPr>
        <p:txBody>
          <a:bodyPr wrap="square" lIns="50000" tIns="40000" rIns="50000" bIns="40000"/>
          <a:lstStyle/>
          <a:p>
            <a:pPr algn="l">
              <a:lnSpc>
                <a:spcPct val="115000"/>
              </a:lnSpc>
              <a:buNone/>
            </a:pPr>
            <a:r>
              <a:rPr lang="en-US" sz="1300" b="1">
                <a:solidFill>
                  <a:srgbClr val="9A3412"/>
                </a:solidFill>
                <a:latin typeface="Arial"/>
              </a:rPr>
              <a:t>Database &amp; Offline 🗄️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PostgreSQL + PostGIS Spatial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Ward Geofencing Layers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IndexedDB PWA Worker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buNone/>
            </a:pPr>
            <a:r>
              <a:rPr lang="en-US" sz="1100" b="0">
                <a:solidFill>
                  <a:srgbClr val="1E293B"/>
                </a:solidFill>
                <a:latin typeface="Arial"/>
              </a:rPr>
              <a:t>• 100% Offline Field Support</a:t>
            </a:r>
          </a:p>
        </p:txBody>
      </p:sp>
      <p:sp>
        <p:nvSpPr>
          <p:cNvPr id="17410" name="TextBox 17409"/>
          <p:cNvSpPr txBox="1"/>
          <p:nvPr/>
        </p:nvSpPr>
        <p:spPr>
          <a:xfrm>
            <a:off x="457200" y="3246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2. End-to-End System Workflow Flowchart (Closed-Loop Pipeline):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3675887"/>
            <a:ext cx="24231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91440" rtlCol="0" anchor="ctr"/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0284C7"/>
                </a:solidFill>
                <a:latin typeface="Arial"/>
              </a:rPr>
              <a:t>📱 STEP 1: </a:t>
            </a:r>
            <a:r>
              <a:rPr sz="1100" b="1">
                <a:solidFill>
                  <a:srgbClr val="0F172A"/>
                </a:solidFill>
                <a:latin typeface="Arial"/>
              </a:rPr>
              <a:t>Citizen Capture
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1-Tap Camera Photo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Auto GPS Extraction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Hindi/English Voice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100% Offline Queuing</a:t>
            </a:r>
          </a:p>
        </p:txBody>
      </p:sp>
      <p:sp>
        <p:nvSpPr>
          <p:cNvPr id="17412" name="Right Arrow 17411"/>
          <p:cNvSpPr/>
          <p:nvPr/>
        </p:nvSpPr>
        <p:spPr>
          <a:xfrm>
            <a:off x="3044952" y="4727447"/>
            <a:ext cx="41148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Rounded Rectangle 17412"/>
          <p:cNvSpPr/>
          <p:nvPr/>
        </p:nvSpPr>
        <p:spPr>
          <a:xfrm>
            <a:off x="3621024" y="3675887"/>
            <a:ext cx="24231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91440" rtlCol="0" anchor="ctr"/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🧠 STEP 2: </a:t>
            </a:r>
            <a:r>
              <a:rPr sz="1100" b="1">
                <a:solidFill>
                  <a:srgbClr val="0F172A"/>
                </a:solidFill>
                <a:latin typeface="Arial"/>
              </a:rPr>
              <a:t>AI Triage &amp; Merge
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Gemini 3.6 Vision Scan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Urgency Score (1 to 10)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DBSCAN 35m Merge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334155"/>
                </a:solidFill>
                <a:latin typeface="Arial"/>
              </a:rPr>
              <a:t>• Combines 50 Duplicates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6208776" y="4727447"/>
            <a:ext cx="41148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6707574" y="3675887"/>
            <a:ext cx="24231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91440" rtlCol="0" anchor="ctr"/>
          <a:lstStyle/>
          <a:p>
            <a:pPr algn="ctr">
              <a:spcAft>
                <a:spcPts val="600"/>
              </a:spcAft>
            </a:pPr>
            <a:r>
              <a:rPr sz="1050" b="1" dirty="0">
                <a:solidFill>
                  <a:srgbClr val="D97706"/>
                </a:solidFill>
                <a:latin typeface="Arial"/>
              </a:rPr>
              <a:t>🚛 STEP 3: 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Smart Dispatch
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Auto Route to Dept (PWD)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Turn-by-Turn GPS Nav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Live SLA Countdown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60% Travel Time Saved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9256689" y="4727447"/>
            <a:ext cx="41148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9693431" y="3675887"/>
            <a:ext cx="24231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91440" rtlCol="0" anchor="ctr"/>
          <a:lstStyle/>
          <a:p>
            <a:pPr algn="ctr">
              <a:spcAft>
                <a:spcPts val="600"/>
              </a:spcAft>
            </a:pPr>
            <a:r>
              <a:rPr sz="1050" b="1" dirty="0">
                <a:solidFill>
                  <a:srgbClr val="10B981"/>
                </a:solidFill>
                <a:latin typeface="Arial"/>
              </a:rPr>
              <a:t>🪙 STEP 4: 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AI Proof &amp; Reward
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Worker 'After' Photo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AI Before vs After Fix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Zero Fraud Verified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334155"/>
                </a:solidFill>
                <a:latin typeface="Arial"/>
              </a:rPr>
              <a:t>• Free Delhi Metro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1097280"/>
            <a:ext cx="5303520" cy="4504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1. Feasibility Analysis (Live &amp; Tested)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⚡ Technical Feasibility: </a:t>
            </a:r>
            <a:r>
              <a:rPr sz="1200" dirty="0">
                <a:solidFill>
                  <a:srgbClr val="334155"/>
                </a:solidFill>
                <a:latin typeface="Arial"/>
              </a:rPr>
              <a:t>Lightweight asynchronous 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FastAPI</a:t>
            </a:r>
            <a:r>
              <a:rPr sz="1200" dirty="0">
                <a:solidFill>
                  <a:srgbClr val="334155"/>
                </a:solidFill>
                <a:latin typeface="Arial"/>
              </a:rPr>
              <a:t> architecture tested with sub-50ms API query latency. Full working prototype is already built and live on cloud.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🏛️ Operational Feasibility: </a:t>
            </a:r>
            <a:r>
              <a:rPr sz="1200" dirty="0">
                <a:solidFill>
                  <a:srgbClr val="334155"/>
                </a:solidFill>
                <a:latin typeface="Arial"/>
              </a:rPr>
              <a:t>Standard REST APIs and GIS spatial layers integrate directly into existing Smart City ICCC dashboards without server replacement.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💰 Financial Feasibility: </a:t>
            </a:r>
            <a:r>
              <a:rPr sz="1200" dirty="0">
                <a:solidFill>
                  <a:srgbClr val="334155"/>
                </a:solidFill>
                <a:latin typeface="Arial"/>
              </a:rPr>
              <a:t>100% open-source core stack with serverless edge architecture. Operational costs average &lt; ₹0.02 per processed citizen complaint.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📱 Universal Accessibility: </a:t>
            </a:r>
            <a:r>
              <a:rPr sz="1200" dirty="0">
                <a:solidFill>
                  <a:srgbClr val="334155"/>
                </a:solidFill>
                <a:latin typeface="Arial"/>
              </a:rPr>
              <a:t>Responsive PWA client runs natively on all low-end Android and iOS smartphones without requiring app store installation.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6080760" y="1188720"/>
            <a:ext cx="18288" cy="47548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309360" y="1097280"/>
            <a:ext cx="5303520" cy="437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2. Potential Challenges &amp; Engineered Solutions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🛡️ Challenge 1 (Fake / Meme Photos):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Mitigation: Gemini 3.6 Vision AI performs zero-trust visual inspection to automatically reject non-civic photos (cars, memes, selfies) with EXIF GPS telemetry locks.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💾 Challenge 2 (Basement Network Loss):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Mitigation: 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IndexedDB</a:t>
            </a:r>
            <a:r>
              <a:rPr sz="1200" dirty="0">
                <a:solidFill>
                  <a:srgbClr val="334155"/>
                </a:solidFill>
                <a:latin typeface="Arial"/>
              </a:rPr>
              <a:t> Offline PWA queues reports and photos locally on device; automatically synchronizes to cloud upon network reconnection.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🎟️ Challenge 3 (Citizen Motivation Drop):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Mitigation: Real Delhi Metro &amp; Bus QR passes, gamified points, and neighborhood community upvoting keep citizens actively engaged.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🔒 Challenge 4 (Data Privacy &amp; Integrity):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Mitigation: Role-based cryptographic JWT authentication and tenant isolation protect municipal and citizen data.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1097280"/>
            <a:ext cx="5303520" cy="409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1. Potential Impact on Target Stakeholders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👨‍👩‍👧 For Citizens &amp; Public: </a:t>
            </a:r>
            <a:r>
              <a:rPr sz="1200" dirty="0">
                <a:solidFill>
                  <a:srgbClr val="334155"/>
                </a:solidFill>
                <a:latin typeface="Arial"/>
              </a:rPr>
              <a:t>Transparent grievance resolution in &lt;24-48 hours with Before/After visual photo proof, live tracking, and free Delhi Metro transit rewards.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🏛️ For Municipal Administration: </a:t>
            </a:r>
            <a:r>
              <a:rPr sz="1200" dirty="0">
                <a:solidFill>
                  <a:srgbClr val="334155"/>
                </a:solidFill>
                <a:latin typeface="Arial"/>
              </a:rPr>
              <a:t>100% automated complaint triage, zero manual sorting paperwork, predictive ward-level GIS heatmaps, and strict SLA officer accountability.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👷 For Field Workforce: </a:t>
            </a:r>
            <a:r>
              <a:rPr sz="1200" dirty="0">
                <a:solidFill>
                  <a:srgbClr val="334155"/>
                </a:solidFill>
                <a:latin typeface="Arial"/>
              </a:rPr>
              <a:t>Turn-by-turn mobile GPS navigation to priority spots, eliminating redundant travel and boosting daily repair output by 40%.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🏙️ For Urban Governance: </a:t>
            </a:r>
            <a:r>
              <a:rPr sz="1200" dirty="0">
                <a:solidFill>
                  <a:srgbClr val="334155"/>
                </a:solidFill>
                <a:latin typeface="Arial"/>
              </a:rPr>
              <a:t>Live analytics on recurring civic failure patterns enable data-driven municipal budget allocation and contractor accountability.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6080760" y="1188720"/>
            <a:ext cx="18288" cy="47548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309360" y="1097280"/>
            <a:ext cx="5303520" cy="409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2. Measurable Socio-Economic &amp; Environmental ROI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🌟 Social Benefits (Trust &amp; Health):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Restores public trust with on-site photo proofs; eradicates open health hazards from garbage dumps &amp; sewage leaks; empowers community participation.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💵 Economic ROI (60% Cost Reduction):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Duplicate report merging cuts municipal fleet dispatch costs by 60%; rapid pothole repair minimizes vehicle damages and municipal liability claims.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🌿 Environmental Impact (Clean Cities):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Rapid containment of plastic dumping and water pipe leakages; lowers municipal vehicle fuel emissions via optimized GPS routing.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🇮🇳 National Mission Alignment: </a:t>
            </a:r>
            <a:r>
              <a:rPr sz="1200" dirty="0">
                <a:solidFill>
                  <a:srgbClr val="334155"/>
                </a:solidFill>
                <a:latin typeface="Arial"/>
              </a:rPr>
              <a:t>Directly accelerates Swachh Bharat Mission-Urban 2.0 and Smart Cities Mission service delivery benchmarks.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00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18000" tIns="18000" rIns="18000" bIns="18000" anchor="ctr"/>
          <a:lstStyle/>
          <a:p>
            <a:pPr algn="ctr">
              <a:buNone/>
            </a:pPr>
            <a:r>
              <a:rPr lang="en-US" sz="1100" b="1">
                <a:solidFill>
                  <a:srgbClr val="064E3B"/>
                </a:solidFill>
                <a:latin typeface="Arial"/>
              </a:rPr>
              <a:t>Gantavya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48640" y="1097280"/>
            <a:ext cx="5303520" cy="409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1. National Government Frameworks &amp; Standards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🏛️ </a:t>
            </a:r>
            <a:r>
              <a:rPr sz="1400" b="1" dirty="0" err="1">
                <a:solidFill>
                  <a:srgbClr val="0F172A"/>
                </a:solidFill>
                <a:latin typeface="Arial"/>
              </a:rPr>
              <a:t>MoHUA</a:t>
            </a:r>
            <a:r>
              <a:rPr sz="1400" b="1" dirty="0">
                <a:solidFill>
                  <a:srgbClr val="0F172A"/>
                </a:solidFill>
                <a:latin typeface="Arial"/>
              </a:rPr>
              <a:t> Smart Cities Mission: </a:t>
            </a:r>
            <a:r>
              <a:rPr sz="1200" dirty="0">
                <a:solidFill>
                  <a:srgbClr val="334155"/>
                </a:solidFill>
                <a:latin typeface="Arial"/>
              </a:rPr>
              <a:t>Guidelines for Integrated Command and Control Centre (ICCC) data interoperability &amp; GIS spatial layer management protocols. (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smartcities.gov.in</a:t>
            </a:r>
            <a:r>
              <a:rPr sz="1200" dirty="0">
                <a:solidFill>
                  <a:srgbClr val="334155"/>
                </a:solidFill>
                <a:latin typeface="Arial"/>
              </a:rPr>
              <a:t>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🧹 Swachh Bharat Mission-Urban 2.0: </a:t>
            </a:r>
            <a:r>
              <a:rPr sz="1200" dirty="0">
                <a:solidFill>
                  <a:srgbClr val="334155"/>
                </a:solidFill>
                <a:latin typeface="Arial"/>
              </a:rPr>
              <a:t>Municipal Solid Waste (MSW) grievance response time indicators and citizen satisfaction benchmarks. (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sbmurban.org</a:t>
            </a:r>
            <a:r>
              <a:rPr sz="1200" dirty="0">
                <a:solidFill>
                  <a:srgbClr val="334155"/>
                </a:solidFill>
                <a:latin typeface="Arial"/>
              </a:rPr>
              <a:t>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🇮🇳 National Open Digital Ecosystem (NODE):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Architectural guidelines for Citizen-Centric Municipal Public Digital Infrastructure. (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csei.org</a:t>
            </a:r>
            <a:r>
              <a:rPr sz="1200" dirty="0">
                <a:solidFill>
                  <a:srgbClr val="334155"/>
                </a:solidFill>
                <a:latin typeface="Arial"/>
              </a:rPr>
              <a:t>/node)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📜 Digital India &amp; DPI Framework: </a:t>
            </a:r>
            <a:r>
              <a:rPr sz="1200" dirty="0">
                <a:solidFill>
                  <a:srgbClr val="334155"/>
                </a:solidFill>
                <a:latin typeface="Arial"/>
              </a:rPr>
              <a:t>Standards for citizen identity privacy, consent management, and open API government infrastructure.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6080760" y="1188720"/>
            <a:ext cx="18288" cy="47548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309360" y="1097280"/>
            <a:ext cx="5303520" cy="437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sz="1600" b="1" dirty="0">
                <a:solidFill>
                  <a:srgbClr val="0D9488"/>
                </a:solidFill>
                <a:latin typeface="Arial"/>
              </a:rPr>
              <a:t>2. Academic Literature &amp; Technical Citations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📍 Geospatial Density Clustering (DBSCAN): </a:t>
            </a:r>
            <a:r>
              <a:rPr sz="1200" dirty="0">
                <a:solidFill>
                  <a:srgbClr val="334155"/>
                </a:solidFill>
                <a:latin typeface="Arial"/>
              </a:rPr>
              <a:t>Ester, M. et al., 'A density-based algorithm for discovering clusters in large spatial databases with noise', KDD Conference on Knowledge Discovery and Data Mining.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🧠 Computer Vision in Smart Governance: </a:t>
            </a:r>
            <a:r>
              <a:rPr sz="1200" dirty="0">
                <a:solidFill>
                  <a:srgbClr val="334155"/>
                </a:solidFill>
                <a:latin typeface="Arial"/>
              </a:rPr>
              <a:t>IEEE Transactions on Intelligent Transportation Systems: 'Deep Multimodal Vision Pipelines for Automated Road Hazard &amp; Pothole Detection.'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🗺️ High-Throughput Spatial Indexing: </a:t>
            </a:r>
            <a:r>
              <a:rPr sz="1200" dirty="0">
                <a:solidFill>
                  <a:srgbClr val="334155"/>
                </a:solidFill>
                <a:latin typeface="Arial"/>
              </a:rPr>
              <a:t>Open Geospatial Consortium (OGC) specifications for Web Feature Services (WFS) &amp; </a:t>
            </a:r>
            <a:r>
              <a:rPr sz="1200" dirty="0" err="1">
                <a:solidFill>
                  <a:srgbClr val="334155"/>
                </a:solidFill>
                <a:latin typeface="Arial"/>
              </a:rPr>
              <a:t>PostGIS</a:t>
            </a:r>
            <a:r>
              <a:rPr sz="1200" dirty="0">
                <a:solidFill>
                  <a:srgbClr val="334155"/>
                </a:solidFill>
                <a:latin typeface="Arial"/>
              </a:rPr>
              <a:t> geometry indexing.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  <a:latin typeface="Arial"/>
              </a:rPr>
              <a:t>🌐 Progressive Web App Architecture: </a:t>
            </a:r>
            <a:r>
              <a:rPr sz="1200" dirty="0">
                <a:solidFill>
                  <a:srgbClr val="334155"/>
                </a:solidFill>
                <a:latin typeface="Arial"/>
              </a:rPr>
              <a:t>W3C Web Applications Working Group specifications for offline service workers and background sync.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7505</TotalTime>
  <Words>1190</Words>
  <Application>Microsoft Macintosh PowerPoint</Application>
  <PresentationFormat>Widescreen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TITLE: गंतव्य (GANTAVYA)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avi yadav</cp:lastModifiedBy>
  <cp:revision>157</cp:revision>
  <dcterms:created xsi:type="dcterms:W3CDTF">2013-12-12T18:46:50Z</dcterms:created>
  <dcterms:modified xsi:type="dcterms:W3CDTF">2026-09-02T04:47:55Z</dcterms:modified>
  <cp:category/>
</cp:coreProperties>
</file>